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89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start by introducing the project idea and goal: analyzing UK railway journey data to turn raw data into information that supports decision-making.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Next, the data we used: the UK Railway Dataset from Maven Analytics, containing about 31.6 thousand journeys.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began Data Understanding: 31,653 records, 18 columns. We analyzed missing values and found they were logical, not data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then analyzed unique values and descriptive statistics for the Price column. By the end we had a clear picture of the data before moving to cleaning.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started by examining the data structure to understand the dataset's nature, record count, and column types before cleaning and 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analyzed missing values to identify which columns needed treatment and to improve data quality before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checked the data for duplicate records and removed them to improve the accuracy of our analysis and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handled the missing values in Railcard to preserve the data and improve the accuracy of customer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converted the dates and created new time-based features to analyze seasonal and daily trends more precisely.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created a new feature to classify customers by whether they hold a Railcard, to make customer behavior analysis easier.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analyzed revenue indicators and average ticket prices to understand the network's financial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analyzed delay and cancellation rates to evaluate operational efficiency and improve service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analyzed booking channels to understand how much customers rely on online bookings versus station purchases.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a flat table, we designed a Star Schema with 1 fact table and 6 dimension tables, connected by 8 relationships — 6 active and 2 inactive, activated using USERELATIONSHIP().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built 50+ DAX measures across categories, and designed 7 interactive dashboard pages covering every angle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shows revenue peaked in January, the Kings Cross to York route leads in revenue, and weather is the top delay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results: total revenue of £742K, the top route is Kings Cross to York, and weather is the leading delay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our findings, we propose a set of recommendations to improve the railway network's operational and financial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ultimately delivered clean data, an interactive dashboard, and actionable insights to support decision-making across the railway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faced several technical challenges while cleaning the data and building the model, from inconsistent delay labels to role-playing dimension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6858000" cy="6858000"/>
          </a:xfrm>
          <a:prstGeom prst="ellipse">
            <a:avLst/>
          </a:prstGeom>
          <a:ln w="25400">
            <a:solidFill>
              <a:srgbClr val="1E2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235440" y="-1097280"/>
            <a:ext cx="5394960" cy="5394960"/>
          </a:xfrm>
          <a:prstGeom prst="ellipse">
            <a:avLst/>
          </a:prstGeom>
          <a:ln w="19050">
            <a:solidFill>
              <a:srgbClr val="2430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332720" y="0"/>
            <a:ext cx="3200400" cy="3200400"/>
          </a:xfrm>
          <a:prstGeom prst="ellipse">
            <a:avLst/>
          </a:prstGeom>
          <a:ln w="19050">
            <a:solidFill>
              <a:srgbClr val="2C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5321808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5431536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5074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E6C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1353312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1E2C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13533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 ·  DATA ANALYSIS SPECIALIST TRACK  ·  FINAL PROJECT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187452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UK Railway Performance &amp;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Passenger Behavior Analysis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22960" y="3657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Data Analysis Project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4160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Data  →  Cleaning  →  Feature Engineering  →  EDA  →  Star Schema  →  Power BI Dashboard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5623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July 2026</a:t>
            </a:r>
            <a:r>
              <a:rPr lang="en-US" sz="1300" dirty="0">
                <a:solidFill>
                  <a:srgbClr val="4A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|    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 Instructor: Dina Ezzat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 Abo Nar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1335024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Team &amp; Roles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69037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63500" dist="25400" dir="5400000" algn="bl" rotWithShape="0">
              <a:srgbClr val="16213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399032"/>
            <a:ext cx="420624" cy="420624"/>
          </a:xfrm>
          <a:prstGeom prst="ellipse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399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133502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 Abo Nar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160934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 — Star Schema, 50+ DAX Measures, Full Dashboard Design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029968"/>
            <a:ext cx="69037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63500" dist="25400" dir="5400000" algn="bl" rotWithShape="0">
              <a:srgbClr val="16213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85800" y="2148840"/>
            <a:ext cx="420624" cy="420624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20848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Shehab El-Din Mohamed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35915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Overview, Data Description &amp; Data Understanding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779776"/>
            <a:ext cx="69037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63500" dist="25400" dir="5400000" algn="bl" rotWithShape="0">
              <a:srgbClr val="16213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5800" y="2898648"/>
            <a:ext cx="420624" cy="420624"/>
          </a:xfrm>
          <a:prstGeom prst="ellipse">
            <a:avLst/>
          </a:prstGeom>
          <a:solidFill>
            <a:srgbClr val="3E9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2898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28346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Khalifa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310896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Data Preprocessing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529584"/>
            <a:ext cx="69037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63500" dist="25400" dir="5400000" algn="bl" rotWithShape="0">
              <a:srgbClr val="16213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5800" y="3648456"/>
            <a:ext cx="420624" cy="420624"/>
          </a:xfrm>
          <a:prstGeom prst="ellipse">
            <a:avLst/>
          </a:prstGeom>
          <a:solidFill>
            <a:srgbClr val="EE6C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80160" y="358444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Zeyad Shaaban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385876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4279392"/>
            <a:ext cx="69037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63500" dist="25400" dir="5400000" algn="bl" rotWithShape="0">
              <a:srgbClr val="16213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85800" y="4398264"/>
            <a:ext cx="420624" cy="420624"/>
          </a:xfrm>
          <a:prstGeom prst="ellipse">
            <a:avLst/>
          </a:prstGeom>
          <a:solidFill>
            <a:srgbClr val="5080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5800" y="4398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80160" y="433425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Esraa Nagy Nabih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80160" y="460857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635240" y="1280160"/>
            <a:ext cx="4069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836408" y="1444752"/>
            <a:ext cx="109728" cy="109728"/>
          </a:xfrm>
          <a:prstGeom prst="rect">
            <a:avLst/>
          </a:prstGeom>
          <a:solidFill>
            <a:srgbClr val="EE6C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019288" y="13898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001000" y="17373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·  Power Query  ·  DAX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Data Modeling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635240" y="2926080"/>
            <a:ext cx="40690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836408" y="3090672"/>
            <a:ext cx="109728" cy="109728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019288" y="30358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001000" y="3383280"/>
            <a:ext cx="3429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863840" y="33649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31,653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9464040" y="34381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863840" y="39136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35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9464040" y="398678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Columns (18 original + 17 engineered)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863840" y="44622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Jan – Apr 2024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9464040" y="45354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863840" y="50109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 / 65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9464040" y="508406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Stations / Routes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822960"/>
            <a:ext cx="51206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0" b="1" dirty="0">
                <a:solidFill>
                  <a:srgbClr val="1C2A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822960" y="27432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EE6C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Project Foundations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251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idea, the data, and what we're solving for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02920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SHEHAB EL-DIN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6190488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6300216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Shehab El-Din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Idea &amp; The Goal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6720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554480"/>
            <a:ext cx="6080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project, UK Railway Analysis, aims to analyze UK train journey data using Power BI and SQL — turning raw data into information that supports better decisions.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any large transport company, thousands of operations are logged every day — journey details, ticket prices, payment methods, journey status — but in its raw form, this data is hard to use directly.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why the goal of the project was to apply the steps of Data Analysis to turn this data into reliable information that supports understanding network performance and decision-making.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452360" y="1371600"/>
            <a:ext cx="4233672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653528" y="1536192"/>
            <a:ext cx="109728" cy="109728"/>
          </a:xfrm>
          <a:prstGeom prst="rect">
            <a:avLst/>
          </a:prstGeom>
          <a:solidFill>
            <a:srgbClr val="EE6C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36408" y="1481328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 WE ASKED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18120" y="1828800"/>
            <a:ext cx="359359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routes are used the most?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routes generate the highest revenue?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main causes of delay?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passengers behave when buying tickets?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factors affect overall network performance?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886200"/>
            <a:ext cx="6720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04088" y="4050792"/>
            <a:ext cx="109728" cy="109728"/>
          </a:xfrm>
          <a:prstGeom prst="rect">
            <a:avLst/>
          </a:prstGeom>
          <a:solidFill>
            <a:srgbClr val="3E9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86968" y="3995928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 RESULT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4343400"/>
            <a:ext cx="6080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these questions helps improve operating efficiency, raise service quality, and enhance the passenger experience — the results were delivered as an Interactive Dashboard that makes it easy to explore the data and track performance indicators clearly and quickly.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Shehab El-Din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DESCRIPTION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Data We Used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67208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554480"/>
            <a:ext cx="6080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the UK Railway Dataset from Maven Analytics, which simulates train journey data across the United Kingdom.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covers about 31.6 thousand journeys representing Q1 2024 — a volume large enough to run analysis on and extract results we can rely on.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in the dataset represents a single train journey, while each Column represents a specific piece of information about that journey.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3657600"/>
            <a:ext cx="67208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840480"/>
            <a:ext cx="6080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important features of this dataset is that it contains interconnected data, which allows us to analyze relationships between variables — such as the relationship between ticket type and its price, or between journey status and delay reasons.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diversity of columns also helped us study the project from more than one angle and extract results that support decision-making.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452360" y="1371600"/>
            <a:ext cx="4233672" cy="4709160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53528" y="1536192"/>
            <a:ext cx="109728" cy="109728"/>
          </a:xfrm>
          <a:prstGeom prst="rect">
            <a:avLst/>
          </a:prstGeom>
          <a:solidFill>
            <a:srgbClr val="EE6C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836408" y="1481328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18120" y="1828800"/>
            <a:ext cx="359359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Date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Date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Station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Destination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Type / Ticket Class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Price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 ·  Railcard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Status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for Delay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Arrival Time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Shehab El-Din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3159252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3159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· PART 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Getting to Know the Data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6720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554480"/>
            <a:ext cx="6080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28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defining the project idea, we started the first phase — Data Understanding — with the goal of understanding the nature of the data before doing any processing.</a:t>
            </a:r>
            <a:endParaRPr lang="en-US" sz="128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28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 the dataset contains 31,653 records and 18 features, covering ticket purchases, journey details, journey status, delays, and refund requests.</a:t>
            </a:r>
            <a:endParaRPr lang="en-US" sz="128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28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checked the data types and found most columns were stored as String — including date and time columns — so we knew they'd need converting to the right format during Data Cleaning.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502920" y="3611880"/>
            <a:ext cx="6720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04088" y="3776472"/>
            <a:ext cx="109728" cy="109728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86968" y="3721608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069080"/>
            <a:ext cx="6080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Railcard  →  20,918 missing values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Arrival Time  →  1,880 missing values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for Delay  →  27,481 missing values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52360" y="1371600"/>
            <a:ext cx="4233672" cy="4709160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653528" y="1536192"/>
            <a:ext cx="109728" cy="109728"/>
          </a:xfrm>
          <a:prstGeom prst="rect">
            <a:avLst/>
          </a:prstGeom>
          <a:solidFill>
            <a:srgbClr val="3E9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36408" y="1481328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18120" y="1828800"/>
            <a:ext cx="359359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analyzing these values, we found that most of the missing values weren't data errors at all.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example, the missing values in Actual Arrival Time were tied to Cancelled journeys — so the absence of an actual arrival time made logical sense.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Likewise, missing values in Reason for Delay were tied to On Time journeys, so having no delay reason was expected, not a data problem.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also checked for Duplicate Records and found none — confirming every journey in the dataset represents an independent record.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Shehab El-Din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3159252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3159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· PART 2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Distributions &amp; Descriptive Stats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67208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04088" y="1536192"/>
            <a:ext cx="109728" cy="109728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86968" y="1481328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VALUES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828800"/>
            <a:ext cx="6080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Type  →  2 categories only (Station and Online)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Status  →  3 statuses only (On Time – Delayed – Cancelled)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Type  →  3 main categories for classifying tickets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Class  →  3 fare classes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4160520"/>
            <a:ext cx="67208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04088" y="4325112"/>
            <a:ext cx="109728" cy="109728"/>
          </a:xfrm>
          <a:prstGeom prst="rect">
            <a:avLst/>
          </a:prstGeom>
          <a:solidFill>
            <a:srgbClr val="EE6C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86968" y="4270248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— PRICE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461772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prices range between £1 and £267, with an average price of around £23.4 — giving us an early picture of the price distribution across the data.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52360" y="1371600"/>
            <a:ext cx="4233672" cy="4709160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53528" y="1536192"/>
            <a:ext cx="109728" cy="109728"/>
          </a:xfrm>
          <a:prstGeom prst="rect">
            <a:avLst/>
          </a:prstGeom>
          <a:solidFill>
            <a:srgbClr val="3E9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36408" y="1481328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SUMMARY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18120" y="1828800"/>
            <a:ext cx="359359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Data Understanding phase, we had a clear picture of the data's structure, quality, and existing issues.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meant we could move into the Data Cleaning phase already knowing what needed fixing and what could be kept as-is.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822960"/>
            <a:ext cx="51206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0" b="1" dirty="0">
                <a:solidFill>
                  <a:srgbClr val="1C2A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822960" y="27432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EE6C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Cleaning &amp;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Preprocessing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251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raw, inconsistent records to an analysis-ready dataset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02920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3E9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YOUSSEF KHALIFA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6190488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6300216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3E9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Khalifa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2295144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· 01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Understanding the Structure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starting any analysis, we needed to fully understand the dataset structure, column types, and data quality.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9893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5440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Dataset overview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print(df.head())
</a:t>
            </a: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Dataset dimensions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print("Dataset Shape:", df.shape)
</a:t>
            </a: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 structure information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
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20840" y="1783080"/>
            <a:ext cx="498348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22008" y="1929384"/>
            <a:ext cx="109728" cy="109728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04888" y="1874520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04888" y="216712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of the first 5 rows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records &amp; columns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for each feature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Non-null values count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3136392"/>
            <a:ext cx="498348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22008" y="3282696"/>
            <a:ext cx="109728" cy="109728"/>
          </a:xfrm>
          <a:prstGeom prst="rect">
            <a:avLst/>
          </a:prstGeom>
          <a:solidFill>
            <a:srgbClr val="EE6C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04888" y="322783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DID THIS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04888" y="3520440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dataset structure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numerical &amp; categorical features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possible data quality issues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 cleaning and preprocessing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4901184"/>
            <a:ext cx="49834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22008" y="5047488"/>
            <a:ext cx="109728" cy="109728"/>
          </a:xfrm>
          <a:prstGeom prst="rect">
            <a:avLst/>
          </a:prstGeom>
          <a:solidFill>
            <a:srgbClr val="3E9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04888" y="4992624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04888" y="528523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 analysis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preprocessing decisions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business insights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3E9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Khalifa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2295144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· 02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Quality Analysis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can reduce analysis accuracy and negatively affect business insights.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9893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5440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missing values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missing_values = df.isnull().sum()
</a:t>
            </a: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Calculate missing percentage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missing_percentage = (
    missing_values / len(df)
) * 100
</a:t>
            </a: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summary table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missing_summary = pd.DataFrame({
    'Missing Values': missing_values,
    'Percentage': missing_percentage
})
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20840" y="1783080"/>
            <a:ext cx="498348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22008" y="1929384"/>
            <a:ext cx="109728" cy="109728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04888" y="1874520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04888" y="216712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table of missing values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percentage per column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affected columns highlighted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3136392"/>
            <a:ext cx="498348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22008" y="3282696"/>
            <a:ext cx="109728" cy="109728"/>
          </a:xfrm>
          <a:prstGeom prst="rect">
            <a:avLst/>
          </a:prstGeom>
          <a:solidFill>
            <a:srgbClr val="EE6C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04888" y="322783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DID THIS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04888" y="35204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incomplete records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appropriate cleaning methods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overall data quality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4764024"/>
            <a:ext cx="49834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22008" y="4910328"/>
            <a:ext cx="109728" cy="109728"/>
          </a:xfrm>
          <a:prstGeom prst="rect">
            <a:avLst/>
          </a:prstGeom>
          <a:solidFill>
            <a:srgbClr val="3E9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04888" y="4855464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04888" y="514807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accuracy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reliability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3E9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Khalifa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2295144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· 03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Removing Redundant Records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 can distort metrics and create misleading business insights.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9893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5440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duplicate rows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duplicate_count = df.duplicated().sum()
print(f"Duplicate Rows: {duplicate_count}")
</a:t>
            </a: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Remove duplicates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df.drop_duplicates()
print(
    "Dataset Shape After Cleaning:",
    df_clean.shape
)
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20840" y="1783080"/>
            <a:ext cx="49834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22008" y="1929384"/>
            <a:ext cx="109728" cy="109728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04888" y="1874520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04888" y="216712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duplicate rows detected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dataset size after cleaning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2999232"/>
            <a:ext cx="498348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22008" y="3145536"/>
            <a:ext cx="109728" cy="109728"/>
          </a:xfrm>
          <a:prstGeom prst="rect">
            <a:avLst/>
          </a:prstGeom>
          <a:solidFill>
            <a:srgbClr val="EE6C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04888" y="309067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DID THIS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04888" y="338328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accurate KPIs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reliable revenue calculations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correct operational reporting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4626864"/>
            <a:ext cx="49834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22008" y="4773168"/>
            <a:ext cx="109728" cy="109728"/>
          </a:xfrm>
          <a:prstGeom prst="rect">
            <a:avLst/>
          </a:prstGeom>
          <a:solidFill>
            <a:srgbClr val="3E9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04888" y="4718304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04888" y="5010912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analytical foundation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reporting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decision-making accuracy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3E9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Khalifa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2295144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· 04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Fixing Missing Railcard Info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Railcard column contained missing values that could affect customer segmentation analysis.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9893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5440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Railcard values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print(df_clean['Railcard']
      .value_counts(dropna=False))
</a:t>
            </a: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Fill missing values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df_clean['Railcard'] = (
    df_clean['Railcard']
    .fillna('No Railcard')
)
</a:t>
            </a: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Verify cleaning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print(df_clean['Railcard'].value_counts())
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20840" y="1783080"/>
            <a:ext cx="498348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22008" y="1929384"/>
            <a:ext cx="109728" cy="109728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04888" y="1874520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04888" y="216712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Railcard categories before cleaning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replaced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category distribution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3136392"/>
            <a:ext cx="49834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22008" y="3282696"/>
            <a:ext cx="109728" cy="109728"/>
          </a:xfrm>
          <a:prstGeom prst="rect">
            <a:avLst/>
          </a:prstGeom>
          <a:solidFill>
            <a:srgbClr val="EE6C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04888" y="322783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DID THIS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04888" y="35204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Preserved customer data instead of removing records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a meaningful category to missing values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4581144"/>
            <a:ext cx="49834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22008" y="4727448"/>
            <a:ext cx="109728" cy="109728"/>
          </a:xfrm>
          <a:prstGeom prst="rect">
            <a:avLst/>
          </a:prstGeom>
          <a:solidFill>
            <a:srgbClr val="3E9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04888" y="4672584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04888" y="4965192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customer segmentation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passenger behavior analysis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data completeness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3E9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Khalifa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2775204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27752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· 05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Transforming Dates into Features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date columns could not support advanced trend analysis directly.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9893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5440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Convert date columns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df_clean['Date of Purchase'] = (
    pd.to_datetime(df_clean['Date of Purchase'])
)
df_clean['Date of Journey'] = (
    pd.to_datetime(df_clean['Date of Journey'])
)
</a:t>
            </a: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Extract time-based features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df_clean['Purchase Year'] = (
    df_clean['Date of Purchase'].dt.year
)
df_clean['Purchase Month'] = (
    df_clean['Date of Purchase'].dt.month_name()
)
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20840" y="1783080"/>
            <a:ext cx="498348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22008" y="1929384"/>
            <a:ext cx="109728" cy="109728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04888" y="1874520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04888" y="216712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feature: Purchase Year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feature: Purchase Month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feature: Purchase Day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3136392"/>
            <a:ext cx="49834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22008" y="3282696"/>
            <a:ext cx="109728" cy="109728"/>
          </a:xfrm>
          <a:prstGeom prst="rect">
            <a:avLst/>
          </a:prstGeom>
          <a:solidFill>
            <a:srgbClr val="EE6C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04888" y="322783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DID THIS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04888" y="35204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monthly trend analysis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seasonal behavior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peak travel periods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4581144"/>
            <a:ext cx="49834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22008" y="4727448"/>
            <a:ext cx="109728" cy="109728"/>
          </a:xfrm>
          <a:prstGeom prst="rect">
            <a:avLst/>
          </a:prstGeom>
          <a:solidFill>
            <a:srgbClr val="3E9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04888" y="4672584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04888" y="4965192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seasonality analysis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Peak-hour identification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trend monitoring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3E9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Khalifa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2775204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27752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· 06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Customer Segmentation Feature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analysis required a simpler segmentation category.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9893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5440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customer category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df_clean['Has Railcard'] = (
    df_clean['Railcard'].apply(
        lambda x:
        'Yes' if x != 'No Railcard'
        else 'No'
    )
)
</a:t>
            </a: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distribution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print(df_clean['Has Railcard']
      .value_counts())
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20840" y="1783080"/>
            <a:ext cx="49834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22008" y="1929384"/>
            <a:ext cx="109728" cy="109728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04888" y="1874520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04888" y="216712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 category: 'Yes'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 category: 'No'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2999232"/>
            <a:ext cx="498348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22008" y="3145536"/>
            <a:ext cx="109728" cy="109728"/>
          </a:xfrm>
          <a:prstGeom prst="rect">
            <a:avLst/>
          </a:prstGeom>
          <a:solidFill>
            <a:srgbClr val="EE6C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04888" y="309067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DID THIS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04888" y="33832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customer grouping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segmentation analysis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4352544"/>
            <a:ext cx="49834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22008" y="4498848"/>
            <a:ext cx="109728" cy="109728"/>
          </a:xfrm>
          <a:prstGeom prst="rect">
            <a:avLst/>
          </a:prstGeom>
          <a:solidFill>
            <a:srgbClr val="3E9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04888" y="4443984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04888" y="4736592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analysis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segmentation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pattern analysis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822960"/>
            <a:ext cx="51206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0" b="1" dirty="0">
                <a:solidFill>
                  <a:srgbClr val="1C2A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822960" y="27432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EE6C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Exploratory Data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251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clean data into revenue, operational, and behavioral patterns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02920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EE6C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ZEYAD SHAABAN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6190488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6300216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EE6C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Zeyad Shaaban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3447288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3447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· 01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Revenue Analysis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ticket revenue patterns is essential for evaluating railway financial performance.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9893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5440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Revenue metrics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total_revenue = df_clean['Price'].sum()
average_price = df_clean['Price'].mean()
max_price = df_clean['Price'].max()
print("Total Revenue:", total_revenue)
print("Average Ticket:", average_price)
print("Highest Ticket:", max_price)
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20840" y="1783080"/>
            <a:ext cx="49834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22008" y="1929384"/>
            <a:ext cx="109728" cy="109728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04888" y="1874520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04888" y="216712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 →  £742K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Ticket Price  →  £23.4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Ticket Price  →  £267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3182112"/>
            <a:ext cx="49834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22008" y="3328416"/>
            <a:ext cx="109728" cy="109728"/>
          </a:xfrm>
          <a:prstGeom prst="rect">
            <a:avLst/>
          </a:prstGeom>
          <a:solidFill>
            <a:srgbClr val="EE6C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04888" y="327355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DID THIS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04888" y="35661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financial performance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pricing behavior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revenue opportunities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4626864"/>
            <a:ext cx="498348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22008" y="4773168"/>
            <a:ext cx="109728" cy="109728"/>
          </a:xfrm>
          <a:prstGeom prst="rect">
            <a:avLst/>
          </a:prstGeom>
          <a:solidFill>
            <a:srgbClr val="3E9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04888" y="4718304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04888" y="501091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optimization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strategy analysis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reporting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EE6C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Zeyad Shaaban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3447288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3447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· 02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Operational Analysis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and cancellations directly impact passenger satisfaction and operational efficiency.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9893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5440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Analyze journey status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status_analysis = (
    df_clean['Journey Status']
    .value_counts(normalize=True) * 100
)
print(status_analysis)
</a:t>
            </a: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Calculate disruption rate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disruption_rate = (
    status_analysis['Delayed']
    + status_analysis['Cancelled']
)
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20840" y="1783080"/>
            <a:ext cx="498348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22008" y="1929384"/>
            <a:ext cx="109728" cy="109728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04888" y="1874520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04888" y="216712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trip percentage  →  86.8%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/ Cancelled percentage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disruption rate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3136392"/>
            <a:ext cx="498348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22008" y="3282696"/>
            <a:ext cx="109728" cy="109728"/>
          </a:xfrm>
          <a:prstGeom prst="rect">
            <a:avLst/>
          </a:prstGeom>
          <a:solidFill>
            <a:srgbClr val="EE6C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04888" y="322783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DID THIS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04888" y="35204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railway operational efficiency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service reliability issues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4489704"/>
            <a:ext cx="49834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22008" y="4636008"/>
            <a:ext cx="109728" cy="109728"/>
          </a:xfrm>
          <a:prstGeom prst="rect">
            <a:avLst/>
          </a:prstGeom>
          <a:solidFill>
            <a:srgbClr val="3E9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04888" y="4581144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04888" y="4873752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monitoring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performance tracking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quality evaluation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EE6C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Zeyad Shaaban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3447288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3447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· 03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Customer Behavior Analysis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booking behavior is critical for improving customer experience and digital transformation.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9893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5440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Analyze purchase channels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purchase_analysis = (
    df_clean['Purchase Type']
    .value_counts(normalize=True) * 100
)
print(purchase_analysis)
online_ratio = purchase_analysis['Online']
print(f"Online Booking Ratio: {online_ratio:.2f}%")
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20840" y="1783080"/>
            <a:ext cx="49834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22008" y="1929384"/>
            <a:ext cx="109728" cy="109728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04888" y="1874520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04888" y="216712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booking percentage  →  59%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booking percentage  →  41%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3044952"/>
            <a:ext cx="498348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22008" y="3191256"/>
            <a:ext cx="109728" cy="109728"/>
          </a:xfrm>
          <a:prstGeom prst="rect">
            <a:avLst/>
          </a:prstGeom>
          <a:solidFill>
            <a:srgbClr val="EE6C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04888" y="313639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DID THIS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04888" y="34290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customer booking preferences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digital adoption trends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4398264"/>
            <a:ext cx="49834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22008" y="4544568"/>
            <a:ext cx="109728" cy="109728"/>
          </a:xfrm>
          <a:prstGeom prst="rect">
            <a:avLst/>
          </a:prstGeom>
          <a:solidFill>
            <a:srgbClr val="3E9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04888" y="4489704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04888" y="4782312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initiatives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 improvements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booking optimization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822960"/>
            <a:ext cx="51206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0" b="1" dirty="0">
                <a:solidFill>
                  <a:srgbClr val="1C2A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822960" y="27432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EE6C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Power BI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Dashboard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251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the data and turning it into a live, interactive product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02920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BILAL ABO NAR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6190488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6300216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 Abo Nar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1815084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18150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Star Schema Data Model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29768" y="1344168"/>
            <a:ext cx="7004304" cy="5221224"/>
          </a:xfrm>
          <a:prstGeom prst="roundRect">
            <a:avLst>
              <a:gd name="adj" fmla="val 140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5400000" algn="bl" rotWithShape="0">
              <a:srgbClr val="16213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railway_pptx/v2/dash_imgs2/star_schema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64665"/>
            <a:ext cx="6858000" cy="458023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89520" y="1417320"/>
            <a:ext cx="409651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790688" y="1581912"/>
            <a:ext cx="109728" cy="109728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973568" y="15270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RELATIONSHIPS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55280" y="1874520"/>
            <a:ext cx="34564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Fact table (Fact_Tickets) + 6 dimension tables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Many-to-One, single direction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Active + 2 Inactive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relationships activated via USERELATIONSHIP() in DAX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589520" y="3886200"/>
            <a:ext cx="409651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790688" y="4050792"/>
            <a:ext cx="109728" cy="109728"/>
          </a:xfrm>
          <a:prstGeom prst="rect">
            <a:avLst/>
          </a:prstGeom>
          <a:solidFill>
            <a:srgbClr val="3E9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973568" y="3995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STAR SCHEMA?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955280" y="4343400"/>
            <a:ext cx="34564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Power BI query performance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Fact / Dimension separation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Role-Playing Dimensions elegantly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Data Warehousing best practices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 Abo Nar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1911096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DAX Measures &amp; Dashboard Pages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ADVANCED DAX MEASURES — BY CATEGORY</a:t>
            </a:r>
            <a:endParaRPr lang="en-US" sz="12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27632"/>
          <a:ext cx="6720840" cy="18288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Functions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Revenue, Avg Price, Peak Revenue Share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SUM, AVERAGE, DIVIDE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On-Time Rate, Delay Rate, Cancellation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CALCULATE, DIVIDE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Intelligence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MoM %, Trips MoM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+ month comparison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Role-Playing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Arrival Station metrics, Purchase 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USERELATIONSHIP()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3703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125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005072"/>
          <a:ext cx="6720840" cy="251460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🏠 Cover Page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App-like landing with navigation buttons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📊 Executive Overview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cards, revenue trend, status donut, top routes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💰 Revenue Analysis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Heatmap (Day × Hour), class breakdown, payments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🗺️ Route &amp; Network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routes combo chart, station matrix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⏱️ Operations &amp; Performance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 trends, delay reasons, station stacked bars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🎫 Tickets &amp; Pricing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trends, Railcard impact, lead days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👤 Passenger Experience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Refunds, persona mix, peak-hour behavior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7452360" y="1627632"/>
            <a:ext cx="4233672" cy="4892040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7653528" y="1792224"/>
            <a:ext cx="109728" cy="109728"/>
          </a:xfrm>
          <a:prstGeom prst="rect">
            <a:avLst/>
          </a:prstGeom>
          <a:solidFill>
            <a:srgbClr val="3E9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7836408" y="173736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FEATURES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818120" y="2084832"/>
            <a:ext cx="359359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navigation between pages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KPI cards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Cross-filtering across visuals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analysis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slicers (Month, Station, Ticket Type)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 (🟢 🟡 🔴)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 Abo Nar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2199132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219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COVER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 App-Like Entry Point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29768" y="1344168"/>
            <a:ext cx="7781544" cy="5221224"/>
          </a:xfrm>
          <a:prstGeom prst="roundRect">
            <a:avLst>
              <a:gd name="adj" fmla="val 1401"/>
            </a:avLst>
          </a:prstGeom>
          <a:solidFill>
            <a:srgbClr val="0F172A"/>
          </a:solidFill>
          <a:ln/>
          <a:effectLst>
            <a:outerShdw blurRad="127000" dist="38100" dir="5400000" algn="bl" rotWithShape="0">
              <a:srgbClr val="16213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railway_pptx/v2/dash_imgs/page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47266"/>
            <a:ext cx="7635240" cy="441502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417320"/>
            <a:ext cx="3319272" cy="507492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567928" y="1581912"/>
            <a:ext cx="109728" cy="109728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750808" y="1527048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PAGE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732520" y="1874520"/>
            <a:ext cx="26791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 full-bleed hero visual sets the tone before any numbers appear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Icon-based navigation bar previews all 6 analysis pages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a consistent dark, glowing rail-signal theme carried through the whole dashboard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 Abo Nar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3447288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3447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EXECUTIVE OVERVIEW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Story at a Glance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29768" y="1344168"/>
            <a:ext cx="7781544" cy="5221224"/>
          </a:xfrm>
          <a:prstGeom prst="roundRect">
            <a:avLst>
              <a:gd name="adj" fmla="val 1401"/>
            </a:avLst>
          </a:prstGeom>
          <a:solidFill>
            <a:srgbClr val="0F172A"/>
          </a:solidFill>
          <a:ln/>
          <a:effectLst>
            <a:outerShdw blurRad="127000" dist="38100" dir="5400000" algn="bl" rotWithShape="0">
              <a:srgbClr val="16213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railway_pptx/v2/dash_imgs2/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63899"/>
            <a:ext cx="7635240" cy="418176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417320"/>
            <a:ext cx="3319272" cy="507492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567928" y="1581912"/>
            <a:ext cx="109728" cy="109728"/>
          </a:xfrm>
          <a:prstGeom prst="rect">
            <a:avLst/>
          </a:prstGeom>
          <a:solidFill>
            <a:srgbClr val="EE6C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750808" y="1527048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732520" y="1874520"/>
            <a:ext cx="26791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KPI cards: Revenue, Trips, On-Time Rate, Avg Price, Delay Rate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line — January peak, February dip, spring recovery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Status donut — 86.82% On Time at a glance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Routes by Revenue, ranked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 Abo Nar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3255264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REVENUE ANALYSIS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the Money Comes From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29768" y="1344168"/>
            <a:ext cx="7781544" cy="5221224"/>
          </a:xfrm>
          <a:prstGeom prst="roundRect">
            <a:avLst>
              <a:gd name="adj" fmla="val 1401"/>
            </a:avLst>
          </a:prstGeom>
          <a:solidFill>
            <a:srgbClr val="0F172A"/>
          </a:solidFill>
          <a:ln/>
          <a:effectLst>
            <a:outerShdw blurRad="127000" dist="38100" dir="5400000" algn="bl" rotWithShape="0">
              <a:srgbClr val="16213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railway_pptx/v2/dash_imgs2/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90862"/>
            <a:ext cx="7635240" cy="432783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417320"/>
            <a:ext cx="3319272" cy="507492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567928" y="1581912"/>
            <a:ext cx="109728" cy="109728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750808" y="1527048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732520" y="1874520"/>
            <a:ext cx="26791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× Hour revenue heatmap pinpoints exactly when revenue peaks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 Revenue (£451K) vs Off-Peak (£291K)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vs Standard Class and Online vs Station revenue split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breakdown — Contactless leads at 63.28%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 Abo Nar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3159252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3159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ROUTE &amp; NETWORK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Mapping the Network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29768" y="1344168"/>
            <a:ext cx="7781544" cy="5221224"/>
          </a:xfrm>
          <a:prstGeom prst="roundRect">
            <a:avLst>
              <a:gd name="adj" fmla="val 1401"/>
            </a:avLst>
          </a:prstGeom>
          <a:solidFill>
            <a:srgbClr val="0F172A"/>
          </a:solidFill>
          <a:ln/>
          <a:effectLst>
            <a:outerShdw blurRad="127000" dist="38100" dir="5400000" algn="bl" rotWithShape="0">
              <a:srgbClr val="16213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railway_pptx/v2/dash_imgs2/rou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19299"/>
            <a:ext cx="7635240" cy="427096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417320"/>
            <a:ext cx="3319272" cy="507492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567928" y="1581912"/>
            <a:ext cx="109728" cy="109728"/>
          </a:xfrm>
          <a:prstGeom prst="rect">
            <a:avLst/>
          </a:prstGeom>
          <a:solidFill>
            <a:srgbClr val="5080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750808" y="1527048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&amp; NETWORK ANALYSIS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732520" y="1874520"/>
            <a:ext cx="26791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chart: Top 10 routes by revenue vs trip volume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routes across 32 stations, fully filterable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Station-level table: revenue, trips, delay rate &amp; avg price side by side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Kings Cross leads with £199,650 in revenue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 Abo Nar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4023360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OPERATIONS &amp; PERFORMANCE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Reliability Breaks Down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29768" y="1344168"/>
            <a:ext cx="7781544" cy="5221224"/>
          </a:xfrm>
          <a:prstGeom prst="roundRect">
            <a:avLst>
              <a:gd name="adj" fmla="val 1401"/>
            </a:avLst>
          </a:prstGeom>
          <a:solidFill>
            <a:srgbClr val="0F172A"/>
          </a:solidFill>
          <a:ln/>
          <a:effectLst>
            <a:outerShdw blurRad="127000" dist="38100" dir="5400000" algn="bl" rotWithShape="0">
              <a:srgbClr val="16213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railway_pptx/v2/dash_imgs2/oper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0982"/>
            <a:ext cx="7635240" cy="43475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417320"/>
            <a:ext cx="3319272" cy="507492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567928" y="1581912"/>
            <a:ext cx="109728" cy="109728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750808" y="1527048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PERFORMANCE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732520" y="1874520"/>
            <a:ext cx="26791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27K on-time vs 2K delayed vs 2K cancelled, tracked monthly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&amp; cancellation rate trend line across all 4 months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bar chart: Weather is the #1 reason for delay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Station-level breakdown of journey status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 Abo Nar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3351276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33512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TICKETS &amp; PRICING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Passengers Buy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29768" y="1344168"/>
            <a:ext cx="7781544" cy="5221224"/>
          </a:xfrm>
          <a:prstGeom prst="roundRect">
            <a:avLst>
              <a:gd name="adj" fmla="val 1401"/>
            </a:avLst>
          </a:prstGeom>
          <a:solidFill>
            <a:srgbClr val="0F172A"/>
          </a:solidFill>
          <a:ln/>
          <a:effectLst>
            <a:outerShdw blurRad="127000" dist="38100" dir="5400000" algn="bl" rotWithShape="0">
              <a:srgbClr val="16213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railway_pptx/v2/dash_imgs2/tick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42842"/>
            <a:ext cx="7635240" cy="422387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417320"/>
            <a:ext cx="3319272" cy="507492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567928" y="1581912"/>
            <a:ext cx="109728" cy="109728"/>
          </a:xfrm>
          <a:prstGeom prst="rect">
            <a:avLst/>
          </a:prstGeom>
          <a:solidFill>
            <a:srgbClr val="3E9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750808" y="1527048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&amp; PRICING ANALYSIS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732520" y="1874520"/>
            <a:ext cx="26791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type mix by month (Advance / Anytime / Off-Peak)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Railcard impact on average price across ticket types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channel by passenger persona — Online vs Station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18K Advance tickets at an average price of £17.6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 Abo Nar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3639312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PASSENGER EXPERIENCE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Understanding the Rider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29768" y="1344168"/>
            <a:ext cx="7781544" cy="5221224"/>
          </a:xfrm>
          <a:prstGeom prst="roundRect">
            <a:avLst>
              <a:gd name="adj" fmla="val 1401"/>
            </a:avLst>
          </a:prstGeom>
          <a:solidFill>
            <a:srgbClr val="0F172A"/>
          </a:solidFill>
          <a:ln/>
          <a:effectLst>
            <a:outerShdw blurRad="127000" dist="38100" dir="5400000" algn="bl" rotWithShape="0">
              <a:srgbClr val="16213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railway_pptx/v2/dash_imgs2/passen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27906"/>
            <a:ext cx="7635240" cy="425374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417320"/>
            <a:ext cx="3319272" cy="507492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567928" y="1581912"/>
            <a:ext cx="109728" cy="109728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750808" y="1527048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EXPERIENCE &amp; BEHAVIOR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732520" y="1874520"/>
            <a:ext cx="26791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rate 3.53%  ·  £39K in revenue lost to refunds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Persona split: Business Commuter, Casual, Discount Seeker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rate by departure hour — spikes around 11 AM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vs Off-Peak trip share is a consistent 57 / 43 split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 Abo Nar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DASHBOARD REVEALS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Dashboard Key Highlights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16213E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E6C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£742K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34640" y="128016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16213E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34640" y="13716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D5A8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31,653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834640" y="1920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Trips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66360" y="128016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16213E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66360" y="13716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E9B6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86.8%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166360" y="1920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Rate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651760"/>
            <a:ext cx="694944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04088" y="2816352"/>
            <a:ext cx="109728" cy="109728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86968" y="27614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&amp; OPERATIONS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108960"/>
            <a:ext cx="6309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Trend: January highest (~£200K) → February dip (£159K) → steady spring recovery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Heatmap: peak hours (7–9 AM, 4–6 PM) drive the majority of daily revenue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Route: London Kings Cross → York = £199.6K (highest revenue route)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Class alone generates £593K — nearly 80% of total revenue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Cause #1: Weather  ·  Avg delay: 42.2 minutes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635240" y="2651760"/>
            <a:ext cx="4050792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836408" y="2816352"/>
            <a:ext cx="109728" cy="109728"/>
          </a:xfrm>
          <a:prstGeom prst="rect">
            <a:avLst/>
          </a:prstGeom>
          <a:solidFill>
            <a:srgbClr val="3E9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019288" y="276148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FEATURES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01000" y="3108960"/>
            <a:ext cx="341071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buttons: cover page → any dashboard page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slicers: Month, Station, Ticket Type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Cross-filtering: click any visual, all others respond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colors: 🟢 Good / 🟡 Warning / 🔴 Critical (DAX-driven)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822960"/>
            <a:ext cx="51206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0" b="1" dirty="0">
                <a:solidFill>
                  <a:srgbClr val="1C2A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822960" y="27432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EE6C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Insights &amp;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Recommendations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251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tell us — and what to do about 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02920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5080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ESRAA NAGY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6190488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6300216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5080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Esraa Nagy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2007108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20071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73152" cy="1188720"/>
          </a:xfrm>
          <a:prstGeom prst="rect">
            <a:avLst/>
          </a:prstGeom>
          <a:solidFill>
            <a:srgbClr val="3E9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£742K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12801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1280160"/>
            <a:ext cx="73152" cy="1188720"/>
          </a:xfrm>
          <a:prstGeom prst="rect">
            <a:avLst/>
          </a:prstGeom>
          <a:solidFill>
            <a:srgbClr val="3E9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29000" y="1417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31,653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2900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Trips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0760" y="12801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80760" y="1280160"/>
            <a:ext cx="73152" cy="1188720"/>
          </a:xfrm>
          <a:prstGeom prst="rect">
            <a:avLst/>
          </a:prstGeom>
          <a:solidFill>
            <a:srgbClr val="3E9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1417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86.8%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1792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Performance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69680" y="12801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869680" y="1280160"/>
            <a:ext cx="73152" cy="1188720"/>
          </a:xfrm>
          <a:prstGeom prst="rect">
            <a:avLst/>
          </a:prstGeom>
          <a:solidFill>
            <a:srgbClr val="3E9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006840" y="1417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42.2 min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00684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Delay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2743200"/>
            <a:ext cx="53492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04088" y="2907792"/>
            <a:ext cx="109728" cy="109728"/>
          </a:xfrm>
          <a:prstGeom prst="rect">
            <a:avLst/>
          </a:prstGeom>
          <a:solidFill>
            <a:srgbClr val="EE6C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86968" y="285292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&amp; PRICING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3200400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 route: London Kings Cross → York (£199.6K)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average ticket price: Liverpool → London Euston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travel hours: 7–9 AM &amp; 4–6 PM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080760" y="2743200"/>
            <a:ext cx="5605272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281928" y="2907792"/>
            <a:ext cx="109728" cy="109728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64808" y="2852928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RELIABILITY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46520" y="3200400"/>
            <a:ext cx="496519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delay cause: Weather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failures &amp; technical issues are the leading preventable causes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patterns concentrate around peak commuting hours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5080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Esraa Nagy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3255264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INSIGHTS INTO ACTION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3E9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16002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train frequency during peak hours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13716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46520" y="1828800"/>
            <a:ext cx="457200" cy="457200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46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86600" y="16002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infrastructure to reduce signal failures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29718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77240" y="3429000"/>
            <a:ext cx="457200" cy="457200"/>
          </a:xfrm>
          <a:prstGeom prst="ellipse">
            <a:avLst/>
          </a:prstGeom>
          <a:solidFill>
            <a:srgbClr val="EE6C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2004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investment on high-revenue routes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29718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46520" y="34290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465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86600" y="32004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weather disruption management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45720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77240" y="5029200"/>
            <a:ext cx="457200" cy="457200"/>
          </a:xfrm>
          <a:prstGeom prst="ellipse">
            <a:avLst/>
          </a:prstGeom>
          <a:solidFill>
            <a:srgbClr val="5080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72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17320" y="48006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digital ticket purchases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72200" y="45720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46520" y="5029200"/>
            <a:ext cx="457200" cy="457200"/>
          </a:xfrm>
          <a:prstGeom prst="ellipse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4652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86600" y="48006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pricing strategies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5080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Esraa Nagy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2199132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219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DELIVERED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Project Outcome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11831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63500" dist="25400" dir="5400000" algn="bl" rotWithShape="0">
              <a:srgbClr val="16213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91440" cy="1051560"/>
          </a:xfrm>
          <a:prstGeom prst="rect">
            <a:avLst/>
          </a:prstGeom>
          <a:solidFill>
            <a:srgbClr val="3E9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5544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Data Quality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554480"/>
            <a:ext cx="6446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raw, inconsistent records to a fully cleaned, validated dataset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651760"/>
            <a:ext cx="111831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63500" dist="25400" dir="5400000" algn="bl" rotWithShape="0">
              <a:srgbClr val="16213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91440" cy="105156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27889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Business Dashboard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2788920"/>
            <a:ext cx="6446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dashboard pages built on an optimized Star Schema model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886200"/>
            <a:ext cx="111831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63500" dist="25400" dir="5400000" algn="bl" rotWithShape="0">
              <a:srgbClr val="16213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2920" y="3886200"/>
            <a:ext cx="91440" cy="1051560"/>
          </a:xfrm>
          <a:prstGeom prst="rect">
            <a:avLst/>
          </a:prstGeom>
          <a:solidFill>
            <a:srgbClr val="EE6C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40233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4023360"/>
            <a:ext cx="6446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data-driven recommendations for operational &amp; financial decisions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120640"/>
            <a:ext cx="111831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63500" dist="25400" dir="5400000" algn="bl" rotWithShape="0">
              <a:srgbClr val="16213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2920" y="5120640"/>
            <a:ext cx="91440" cy="105156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52578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Reporting Performance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0" y="5257800"/>
            <a:ext cx="6446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data model delivers fast, reliable Power BI reporting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 Abo Nar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2871216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CHALLENGES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Challenges We Overcame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4206240"/>
        </p:xfrm>
        <a:graphic>
          <a:graphicData uri="http://schemas.openxmlformats.org/drawingml/2006/table">
            <a:tbl>
              <a:tblPr/>
              <a:tblGrid>
                <a:gridCol w="603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Inconsistent delay labels ("Signal failure" vs "Signal Failure")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Standardized 8 → 5 clean categories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 nulls in Reason for Delay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Context-aware filling: "No Delay" for on-time trips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auto-typed DateKey (20240101) as a plain number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M-code type enforcement across all 7 tables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Role-Playing Dimensions (1 table, 2 purposes)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Active/Inactive relationships + USERELATIONSHIP()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Unicode encoding issues in the Route column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ASCII replacement + UTF-8 BOM encoding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6858000" cy="6858000"/>
          </a:xfrm>
          <a:prstGeom prst="ellipse">
            <a:avLst/>
          </a:prstGeom>
          <a:ln w="25400">
            <a:solidFill>
              <a:srgbClr val="1E2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235440" y="-1097280"/>
            <a:ext cx="5394960" cy="5394960"/>
          </a:xfrm>
          <a:prstGeom prst="ellipse">
            <a:avLst/>
          </a:prstGeom>
          <a:ln w="19050">
            <a:solidFill>
              <a:srgbClr val="2430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417320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1527048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636776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4460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Railway Performance &amp; Passenger Behavior Analysis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3434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  ·  Shehab  ·  Esraa  ·  Zeyad  ·  Youssef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6634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 Ezzat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983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— Data Analysis Specialist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760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ar-SA" b="1" dirty="0">
              <a:solidFill>
                <a:srgbClr val="8FA6C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3824</Words>
  <Application>Microsoft Office PowerPoint</Application>
  <PresentationFormat>Widescreen</PresentationFormat>
  <Paragraphs>563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Bookman Old Style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Youssef Mohamed Khalifa Hussain Ismael</cp:lastModifiedBy>
  <cp:revision>2</cp:revision>
  <dcterms:created xsi:type="dcterms:W3CDTF">2026-07-11T11:43:40Z</dcterms:created>
  <dcterms:modified xsi:type="dcterms:W3CDTF">2026-07-11T11:48:50Z</dcterms:modified>
</cp:coreProperties>
</file>